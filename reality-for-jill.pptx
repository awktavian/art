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6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28016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spc="10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REALITY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00CED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Space Has Exactly Three Dimensions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theory. A theorem.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4023360"/>
            <a:ext cx="128016" cy="128016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7" name="Shape 5"/>
          <p:cNvSpPr/>
          <p:nvPr/>
        </p:nvSpPr>
        <p:spPr>
          <a:xfrm>
            <a:off x="969264" y="4023360"/>
            <a:ext cx="128016" cy="12801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" name="Shape 6"/>
          <p:cNvSpPr/>
          <p:nvPr/>
        </p:nvSpPr>
        <p:spPr>
          <a:xfrm>
            <a:off x="1207008" y="4023360"/>
            <a:ext cx="128016" cy="12801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1554480" y="3931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 Jacoby  ·  7331  ·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6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HERE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Close your eyes for a moment.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6400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AF7F2"/>
                </a:solidFill>
              </a:rPr>
              <a:t>Reach your arm up.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AF7F2"/>
                </a:solidFill>
              </a:rPr>
              <a:t>Now reach it to the side.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AF7F2"/>
                </a:solidFill>
              </a:rPr>
              <a:t>Now reach it forward.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CED1"/>
                </a:solidFill>
              </a:rPr>
              <a:t>That’s it. Three directions. That’s all you get.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Every architect, every sculptor, every painter works within these three axes.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But nobody could explain why there are exactly three—</a:t>
            </a:r>
            <a:pPr indent="0" marL="0">
              <a:buNone/>
            </a:pPr>
            <a:r>
              <a:rPr lang="en-US" sz="1600" i="1" dirty="0">
                <a:solidFill>
                  <a:srgbClr val="EC4899"/>
                </a:solidFill>
              </a:rPr>
              <a:t>until now.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73152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+ 1</a:t>
            </a:r>
            <a:endParaRPr lang="en-US" sz="7200" dirty="0"/>
          </a:p>
          <a:p>
            <a:pPr algn="ctr" indent="0" marL="0">
              <a:buNone/>
            </a:pPr>
            <a:endParaRPr lang="en-US" sz="7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00CED1"/>
                </a:solidFill>
              </a:rPr>
              <a:t>Three dimensions of space.</a:t>
            </a:r>
            <a:endParaRPr lang="en-US" sz="7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C9A227"/>
                </a:solidFill>
              </a:rPr>
              <a:t>One dimension of time.</a:t>
            </a:r>
            <a:endParaRPr lang="en-US" sz="7200" dirty="0"/>
          </a:p>
          <a:p>
            <a:pPr algn="ctr" indent="0" marL="0">
              <a:buNone/>
            </a:pPr>
            <a:endParaRPr lang="en-US" sz="72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AF7F2"/>
                </a:solidFill>
              </a:rPr>
              <a:t>This isn’t a feature of our universe.</a:t>
            </a:r>
            <a:endParaRPr lang="en-US" sz="72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AF7F2"/>
                </a:solidFill>
              </a:rPr>
              <a:t>It’s the only mathematically possible outcome.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914400" y="4389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Machine-verified. Zero assumptions. Zero gaps in the proof.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6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RAW MATERIALS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There are exactly five ways to build a number system where division works.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1508760"/>
            <a:ext cx="7680960" cy="548640"/>
          </a:xfrm>
          <a:prstGeom prst="rect">
            <a:avLst/>
          </a:prstGeom>
          <a:solidFill>
            <a:srgbClr val="12101A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508760"/>
            <a:ext cx="45720" cy="54864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54480" y="15087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474720" y="1636776"/>
            <a:ext cx="502920" cy="29260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0" y="1636776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06240" y="150876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line. Too flat for physics.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2167128"/>
            <a:ext cx="7680960" cy="548640"/>
          </a:xfrm>
          <a:prstGeom prst="rect">
            <a:avLst/>
          </a:prstGeom>
          <a:solidFill>
            <a:srgbClr val="12101A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2167128"/>
            <a:ext cx="45720" cy="54864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21671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554480" y="21671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Complex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474720" y="2295144"/>
            <a:ext cx="502920" cy="29260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6" name="Text 14"/>
          <p:cNvSpPr/>
          <p:nvPr/>
        </p:nvSpPr>
        <p:spPr>
          <a:xfrm>
            <a:off x="3474720" y="2295144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206240" y="216712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plane. Still too orderly.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1520" y="2825496"/>
            <a:ext cx="7680960" cy="548640"/>
          </a:xfrm>
          <a:prstGeom prst="rect">
            <a:avLst/>
          </a:prstGeom>
          <a:solidFill>
            <a:srgbClr val="1A1820"/>
          </a:solidFill>
          <a:ln w="12700">
            <a:solidFill>
              <a:srgbClr val="C9A22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31520" y="2825496"/>
            <a:ext cx="45720" cy="54864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28254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554480" y="282549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Quaternions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474720" y="2953512"/>
            <a:ext cx="502920" cy="29260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3" name="Text 21"/>
          <p:cNvSpPr/>
          <p:nvPr/>
        </p:nvSpPr>
        <p:spPr>
          <a:xfrm>
            <a:off x="3474720" y="295351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0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206240" y="2825496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starts to matter. The sweet spot.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31520" y="3483864"/>
            <a:ext cx="7680960" cy="548640"/>
          </a:xfrm>
          <a:prstGeom prst="rect">
            <a:avLst/>
          </a:prstGeom>
          <a:solidFill>
            <a:srgbClr val="12101A"/>
          </a:solidFill>
          <a:ln/>
        </p:spPr>
      </p:sp>
      <p:sp>
        <p:nvSpPr>
          <p:cNvPr id="26" name="Shape 24"/>
          <p:cNvSpPr/>
          <p:nvPr/>
        </p:nvSpPr>
        <p:spPr>
          <a:xfrm>
            <a:off x="731520" y="3483864"/>
            <a:ext cx="45720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1005840" y="34838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554480" y="348386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Octonions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474720" y="3611880"/>
            <a:ext cx="502920" cy="2926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0" name="Text 28"/>
          <p:cNvSpPr/>
          <p:nvPr/>
        </p:nvSpPr>
        <p:spPr>
          <a:xfrm>
            <a:off x="3474720" y="361188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0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206240" y="3483864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 and exotic. Particles live here.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31520" y="4142232"/>
            <a:ext cx="7680960" cy="548640"/>
          </a:xfrm>
          <a:prstGeom prst="rect">
            <a:avLst/>
          </a:prstGeom>
          <a:solidFill>
            <a:srgbClr val="12101A"/>
          </a:solidFill>
          <a:ln/>
        </p:spPr>
      </p:sp>
      <p:sp>
        <p:nvSpPr>
          <p:cNvPr id="33" name="Shape 31"/>
          <p:cNvSpPr/>
          <p:nvPr/>
        </p:nvSpPr>
        <p:spPr>
          <a:xfrm>
            <a:off x="731520" y="4142232"/>
            <a:ext cx="45720" cy="54864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34" name="Text 32"/>
          <p:cNvSpPr/>
          <p:nvPr/>
        </p:nvSpPr>
        <p:spPr>
          <a:xfrm>
            <a:off x="1005840" y="41422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1554480" y="414223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Sedenions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474720" y="4270248"/>
            <a:ext cx="502920" cy="292608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37" name="Text 35"/>
          <p:cNvSpPr/>
          <p:nvPr/>
        </p:nvSpPr>
        <p:spPr>
          <a:xfrm>
            <a:off x="3474720" y="427024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0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16D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206240" y="414223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Broken. Information gets destroyed.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6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SELECTION CRITERIA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universe needs exactly two properties.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3749040" cy="3017520"/>
          </a:xfrm>
          <a:prstGeom prst="rect">
            <a:avLst/>
          </a:prstGeom>
          <a:solidFill>
            <a:srgbClr val="12101A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554480"/>
            <a:ext cx="374904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554480" y="17830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Nothing is lost.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05840" y="246888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00CED1"/>
                </a:solidFill>
              </a:rPr>
              <a:t>Division always works.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When you combine two nonzero things, you never get zero. Information is always preserved.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Think of it like lossless compression. The universe doesn’t throw away data.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1554480"/>
            <a:ext cx="3749040" cy="3017520"/>
          </a:xfrm>
          <a:prstGeom prst="rect">
            <a:avLst/>
          </a:prstGeom>
          <a:solidFill>
            <a:srgbClr val="12101A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554480"/>
            <a:ext cx="3749040" cy="36576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5486400" y="17830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Order matters.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937760" y="246888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EC4899"/>
                </a:solidFill>
              </a:rPr>
              <a:t>A × B ≠ B × A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Measuring position then momentum gives a different answer than momentum then position.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This is the foundation of quantum mechanics. Without it, nothing changes.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6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number system satisfies both rules at minimum size.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371600" y="109728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</a:t>
            </a:r>
            <a:endParaRPr lang="en-US" sz="18000" dirty="0"/>
          </a:p>
        </p:txBody>
      </p:sp>
      <p:sp>
        <p:nvSpPr>
          <p:cNvPr id="4" name="Text 2"/>
          <p:cNvSpPr/>
          <p:nvPr/>
        </p:nvSpPr>
        <p:spPr>
          <a:xfrm>
            <a:off x="4389120" y="1371600"/>
            <a:ext cx="4206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Quaternions</a:t>
            </a:r>
            <a:endParaRPr lang="en-US" sz="3600" dirty="0"/>
          </a:p>
          <a:p>
            <a:pPr indent="0" marL="0">
              <a:buNone/>
            </a:pPr>
            <a:endParaRPr lang="en-US" sz="36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Discovered by William Rowan Hamilton in 1843.</a:t>
            </a:r>
            <a:endParaRPr lang="en-US" sz="36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He was so excited he carved the formula into a bridge.</a:t>
            </a:r>
            <a:endParaRPr lang="en-US" sz="3600" dirty="0"/>
          </a:p>
          <a:p>
            <a:pPr indent="0" marL="0">
              <a:buNone/>
            </a:pPr>
            <a:endParaRPr lang="en-US" sz="3600" dirty="0"/>
          </a:p>
          <a:p>
            <a:pPr indent="0" marL="0">
              <a:buNone/>
            </a:pPr>
            <a:r>
              <a:rPr lang="en-US" sz="1600" dirty="0">
                <a:solidFill>
                  <a:srgbClr val="00CED1"/>
                </a:solidFill>
              </a:rPr>
              <a:t>Four-dimensional. Non-commutative.</a:t>
            </a:r>
            <a:endParaRPr lang="en-US" sz="3600" dirty="0"/>
          </a:p>
          <a:p>
            <a:pPr indent="0" marL="0">
              <a:buNone/>
            </a:pPr>
            <a:r>
              <a:rPr lang="en-US" sz="1600" dirty="0">
                <a:solidFill>
                  <a:srgbClr val="00CED1"/>
                </a:solidFill>
              </a:rPr>
              <a:t>The smallest number system with both properties.</a:t>
            </a:r>
            <a:endParaRPr lang="en-US" sz="3600" dirty="0"/>
          </a:p>
          <a:p>
            <a:pPr indent="0" marL="0">
              <a:buNone/>
            </a:pPr>
            <a:endParaRPr lang="en-US" sz="3600" dirty="0"/>
          </a:p>
          <a:p>
            <a:pPr indent="0" marL="0">
              <a:buNone/>
            </a:pPr>
            <a:r>
              <a:rPr lang="en-US" sz="1600" dirty="0">
                <a:solidFill>
                  <a:srgbClr val="FAF7F2"/>
                </a:solidFill>
              </a:rPr>
              <a:t>And those four dimensions split into </a:t>
            </a:r>
            <a:pPr indent="0" marL="0">
              <a:buNone/>
            </a:pPr>
            <a:r>
              <a:rPr lang="en-US" sz="2200" b="1" dirty="0">
                <a:solidFill>
                  <a:srgbClr val="C9A227"/>
                </a:solidFill>
              </a:rPr>
              <a:t>1 + 3.</a:t>
            </a:r>
            <a:endParaRPr lang="en-US" sz="3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6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SPLIT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dimensions. One of them is different from the other three.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2194560" cy="3108960"/>
          </a:xfrm>
          <a:prstGeom prst="rect">
            <a:avLst/>
          </a:prstGeom>
          <a:solidFill>
            <a:srgbClr val="12101A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463040"/>
            <a:ext cx="2194560" cy="3657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459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731520" y="24231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6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83464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 that commutes.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 one direction.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can’t reverse it.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can’t choose it.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08960" y="1463040"/>
            <a:ext cx="5303520" cy="3108960"/>
          </a:xfrm>
          <a:prstGeom prst="rect">
            <a:avLst/>
          </a:prstGeom>
          <a:solidFill>
            <a:srgbClr val="12101A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08960" y="1463040"/>
            <a:ext cx="5303520" cy="36576"/>
          </a:xfrm>
          <a:prstGeom prst="rect">
            <a:avLst/>
          </a:prstGeom>
          <a:solidFill>
            <a:srgbClr val="00CED1"/>
          </a:solidFill>
          <a:ln/>
        </p:spPr>
      </p:sp>
      <p:sp>
        <p:nvSpPr>
          <p:cNvPr id="11" name="Text 9"/>
          <p:cNvSpPr/>
          <p:nvPr/>
        </p:nvSpPr>
        <p:spPr>
          <a:xfrm>
            <a:off x="3108960" y="164592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CED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5600" dirty="0"/>
          </a:p>
        </p:txBody>
      </p:sp>
      <p:sp>
        <p:nvSpPr>
          <p:cNvPr id="12" name="Text 10"/>
          <p:cNvSpPr/>
          <p:nvPr/>
        </p:nvSpPr>
        <p:spPr>
          <a:xfrm>
            <a:off x="3108960" y="24231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600" kern="0" dirty="0">
                <a:solidFill>
                  <a:srgbClr val="00C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0" y="2880360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0" y="2880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337560" y="36118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/ Down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303520" y="2880360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5303520" y="2880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983480" y="36118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/ Right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49440" y="2880360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6949440" y="2880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629400" y="36118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Fwd / Back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91840" y="3977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imaginary parts anti-commute: the order you combine them matters. That’s what makes them spatial.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548640"/>
            <a:ext cx="69494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</a:rPr>
              <a:t>Think of it like</a:t>
            </a:r>
            <a:pPr indent="0" marL="0">
              <a:buNone/>
            </a:pPr>
            <a:r>
              <a:rPr lang="en-US" sz="1600" i="1" dirty="0">
                <a:solidFill>
                  <a:srgbClr val="FAF7F2"/>
                </a:solidFill>
              </a:rPr>
              <a:t> perspective in Renaissance painting.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Brunelleschi didn’t invent the vanishing point.</a:t>
            </a:r>
            <a:endParaRPr lang="en-US" sz="1600" dirty="0"/>
          </a:p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 discovered that flat geometry allows exactly one.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Not because of his talent.</a:t>
            </a:r>
            <a:endParaRPr lang="en-US" sz="1600" dirty="0"/>
          </a:p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Because of the mathematics of projection.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2200" b="1" dirty="0">
                <a:solidFill>
                  <a:srgbClr val="00CED1"/>
                </a:solidFill>
              </a:rPr>
              <a:t>This proof is the same kind of discovery.</a:t>
            </a:r>
            <a:endParaRPr lang="en-US" sz="1600" dirty="0"/>
          </a:p>
          <a:p>
            <a:pPr indent="0" marL="0">
              <a:buNone/>
            </a:pPr>
            <a:r>
              <a:rPr lang="en-US" sz="1800" dirty="0">
                <a:solidFill>
                  <a:srgbClr val="FAF7F2"/>
                </a:solidFill>
              </a:rPr>
              <a:t>3+1 isn’t a design choice. It’s geometric inevitability.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6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SPLIT IS FORCED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AF7F2"/>
                </a:solidFill>
              </a:rPr>
              <a:t>In a quaternion </a:t>
            </a:r>
            <a:pPr indent="0" marL="0">
              <a:buNone/>
            </a:pPr>
            <a:r>
              <a:rPr lang="en-US" sz="2000" i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 = a + bi + cj + dk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Only the real part (a) commutes with everything else.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It’s the single element that doesn’t care about order.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C9A227"/>
                </a:solidFill>
              </a:rPr>
              <a:t>That makes it unique. That’s your time dimension.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The three imaginary parts (b, c, d) all anti-commute.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ij + ji = 0. Combine them in opposite orders and they cancel.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00CED1"/>
                </a:solidFill>
              </a:rPr>
              <a:t>That’s what makes them spatial—you can move freely in all three.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1800" dirty="0">
                <a:solidFill>
                  <a:srgbClr val="FAF7F2"/>
                </a:solidFill>
              </a:rPr>
              <a:t>This isn’t a choice. It’s the </a:t>
            </a:r>
            <a:pPr indent="0" marL="0">
              <a:buNone/>
            </a:pPr>
            <a:r>
              <a:rPr lang="en-US" sz="1800" b="1" i="1" dirty="0">
                <a:solidFill>
                  <a:srgbClr val="EC4899"/>
                </a:solidFill>
              </a:rPr>
              <a:t>only</a:t>
            </a:r>
            <a:pPr indent="0" marL="0">
              <a:buNone/>
            </a:pPr>
            <a:r>
              <a:rPr lang="en-US" sz="1800" dirty="0">
                <a:solidFill>
                  <a:srgbClr val="FAF7F2"/>
                </a:solidFill>
              </a:rPr>
              <a:t> way to decompose a quaternion.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6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HABITABLE ZONE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Like Goldilocks, but for number systems.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554480" cy="2560320"/>
          </a:xfrm>
          <a:prstGeom prst="rect">
            <a:avLst/>
          </a:prstGeom>
          <a:solidFill>
            <a:srgbClr val="07060B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459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9260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simple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40280" y="1463040"/>
            <a:ext cx="1554480" cy="2560320"/>
          </a:xfrm>
          <a:prstGeom prst="rect">
            <a:avLst/>
          </a:prstGeom>
          <a:solidFill>
            <a:srgbClr val="07060B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40280" y="16459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240280" y="2468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240280" y="29260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orderly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931920" y="1463040"/>
            <a:ext cx="1554480" cy="2560320"/>
          </a:xfrm>
          <a:prstGeom prst="rect">
            <a:avLst/>
          </a:prstGeom>
          <a:solidFill>
            <a:srgbClr val="12101A"/>
          </a:solidFill>
          <a:ln w="19050">
            <a:solidFill>
              <a:srgbClr val="C9A22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931920" y="16459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931920" y="2468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931920" y="29260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Spacetime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23560" y="1463040"/>
            <a:ext cx="1554480" cy="2560320"/>
          </a:xfrm>
          <a:prstGeom prst="rect">
            <a:avLst/>
          </a:prstGeom>
          <a:solidFill>
            <a:srgbClr val="12101A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623560" y="16459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5623560" y="2468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623560" y="29260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0" y="1463040"/>
            <a:ext cx="1554480" cy="2560320"/>
          </a:xfrm>
          <a:prstGeom prst="rect">
            <a:avLst/>
          </a:prstGeom>
          <a:solidFill>
            <a:srgbClr val="07060B"/>
          </a:solidFill>
          <a:ln w="6350">
            <a:solidFill>
              <a:srgbClr val="EC48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0" y="16459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7315200" y="2468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315200" y="29260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017520" y="4160520"/>
            <a:ext cx="3383280" cy="2743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0" y="42519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physics can exist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6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PROOF SCORECARD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core theorems: machine-verified, zero assumptions.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7680960" cy="685800"/>
          </a:xfrm>
          <a:prstGeom prst="rect">
            <a:avLst/>
          </a:prstGeom>
          <a:solidFill>
            <a:srgbClr val="12101A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554480"/>
            <a:ext cx="457200" cy="411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5544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0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54480" y="14356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Uniqueness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54480" y="176479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Quaternions are the only answer to both rules at minimum size.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589520" y="155448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</a:rPr>
              <a:t>✓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31520" y="2240280"/>
            <a:ext cx="7680960" cy="685800"/>
          </a:xfrm>
          <a:prstGeom prst="rect">
            <a:avLst/>
          </a:prstGeom>
          <a:solidFill>
            <a:srgbClr val="12101A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14400" y="2377440"/>
            <a:ext cx="457200" cy="4114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3774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0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554480" y="22585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Fermat Boundary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554480" y="258775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algebra boundary where FLT fails is exactly where spacetime emerges.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589520" y="237744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</a:rPr>
              <a:t>✓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31520" y="3063240"/>
            <a:ext cx="7680960" cy="685800"/>
          </a:xfrm>
          <a:prstGeom prst="rect">
            <a:avLst/>
          </a:prstGeom>
          <a:solidFill>
            <a:srgbClr val="12101A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14400" y="3200400"/>
            <a:ext cx="457200" cy="41148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2004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0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554480" y="30815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Information Death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554480" y="341071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dimension 16, zero divisors appear. The universe can’t exist there.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589520" y="32004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</a:rPr>
              <a:t>✓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31520" y="3886200"/>
            <a:ext cx="7680960" cy="685800"/>
          </a:xfrm>
          <a:prstGeom prst="rect">
            <a:avLst/>
          </a:prstGeom>
          <a:solidFill>
            <a:srgbClr val="12101A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14400" y="4023360"/>
            <a:ext cx="457200" cy="4114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40233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0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554480" y="39044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Habitable Zone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554480" y="423367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quaternions and octonions can support physics. Everything else breaks.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589520" y="402336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</a:rPr>
              <a:t>✓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in Lean 4. Checked by computer. No human trust required.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06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THEN SOMETHING UNEXPECTED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same algebra explains why quarks can’t escape.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680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AF7F2"/>
                </a:solidFill>
              </a:rPr>
              <a:t>In 8-dimensional octonions, there’s a beautiful rule: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AF7F2"/>
                </a:solidFill>
              </a:rPr>
              <a:t>Solutions that start in the full 8D space are </a:t>
            </a:r>
            <a:pPr indent="0" marL="0">
              <a:buNone/>
            </a:pPr>
            <a:r>
              <a:rPr lang="en-US" sz="1600" b="1" dirty="0">
                <a:solidFill>
                  <a:srgbClr val="00CED1"/>
                </a:solidFill>
              </a:rPr>
              <a:t>algebraically forced</a:t>
            </a:r>
            <a:pPr indent="0" marL="0">
              <a:buNone/>
            </a:pPr>
            <a:r>
              <a:rPr lang="en-US" sz="1600" dirty="0">
                <a:solidFill>
                  <a:srgbClr val="FAF7F2"/>
                </a:solidFill>
              </a:rPr>
              <a:t> into 4D subspaces.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This is structurally identical to how quarks are confined inside protons.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In physics, nobody has proven why quarks can’t escape.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It’s a Clay Millennium Prize problem. Worth one million dollars.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</a:rPr>
              <a:t>In algebra, Artin proved it in 1930. We formalized the bridge.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48640"/>
            <a:ext cx="73152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Spacetime’s shape is not arbitrary.</a:t>
            </a:r>
            <a:endParaRPr lang="en-US" sz="3000" dirty="0"/>
          </a:p>
          <a:p>
            <a:pPr algn="ctr" indent="0" marL="0">
              <a:buNone/>
            </a:pPr>
            <a:endParaRPr lang="en-US" sz="3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AF7F2"/>
                </a:solidFill>
              </a:rPr>
              <a:t>It’s the smallest structure that preserves what exists</a:t>
            </a:r>
            <a:endParaRPr lang="en-US" sz="3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AF7F2"/>
                </a:solidFill>
              </a:rPr>
              <a:t>while allowing everything to change.</a:t>
            </a:r>
            <a:endParaRPr lang="en-US" sz="3000" dirty="0"/>
          </a:p>
          <a:p>
            <a:pPr algn="ctr" indent="0" marL="0">
              <a:buNone/>
            </a:pPr>
            <a:endParaRPr lang="en-US" sz="30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00CED1"/>
                </a:solidFill>
              </a:rPr>
              <a:t>Three dimensions of freedom.</a:t>
            </a:r>
            <a:endParaRPr lang="en-US" sz="30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C9A227"/>
                </a:solidFill>
              </a:rPr>
              <a:t>One river of time.</a:t>
            </a:r>
            <a:endParaRPr lang="en-US" sz="30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EC4899"/>
                </a:solidFill>
              </a:rPr>
              <a:t>A mathematical inevitability.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114800" y="4114800"/>
            <a:ext cx="128016" cy="128016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4352544" y="4114800"/>
            <a:ext cx="128016" cy="12801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" name="Shape 3"/>
          <p:cNvSpPr/>
          <p:nvPr/>
        </p:nvSpPr>
        <p:spPr>
          <a:xfrm>
            <a:off x="4590288" y="4114800"/>
            <a:ext cx="128016" cy="12801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4389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 Jacoby  ·  7331  ·  ~/reality/  ·  Lean 4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Reality: Why Space Has Three Dimensions</dc:title>
  <dc:subject>PptxGenJS Presentation</dc:subject>
  <dc:creator>Tim Jacoby</dc:creator>
  <cp:lastModifiedBy>Tim Jacoby</cp:lastModifiedBy>
  <cp:revision>1</cp:revision>
  <dcterms:created xsi:type="dcterms:W3CDTF">2026-03-29T17:37:19Z</dcterms:created>
  <dcterms:modified xsi:type="dcterms:W3CDTF">2026-03-29T17:37:19Z</dcterms:modified>
</cp:coreProperties>
</file>